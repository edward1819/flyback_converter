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A10E-AD8F-CF73-A4C6-37E49984F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82F35-B2B0-9011-1B92-1B946D707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8E9B7-D0E2-90FA-659D-11C5515E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5E64-34DC-9CFB-7486-7BA5C2C8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6D85-79C2-6F1A-B50F-FA665A94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5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A389-CD29-47F8-8D6E-C0179CBC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B6D2-CC4D-99D1-2548-4C7EFA43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3B059-8EC5-E2EA-E665-93808BB9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70263-5140-1455-C159-82EC563F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DF408-4AED-832A-5B21-3F081649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6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9300-341B-ED6D-5538-D0ED4227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9F178-B4C9-6E92-BD1F-A8097645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5CED5-8177-4999-19B1-B6D2E7D2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A6BEB-C382-F1E2-0518-95E2D218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0616E-3563-C0DA-864D-8268B83A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9D51-18FC-F7AC-CAD0-5F9AAE1F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73D1-0725-F7ED-5129-6AF4DC10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720A1-3EFF-6731-35D3-865B1F5BE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46C71-3CB4-358C-922A-7FCBDE6A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4660D-3206-71F0-7D02-A1CC3FAB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3A2F1-B5A0-F4AB-F6C8-D2885CA2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4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1180-C08A-70AB-5CFC-93C06638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121E7-65DB-AA4E-A935-05B53011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60CAD-20AC-55C4-2367-47172709F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77387-3F0C-0BBB-3C17-973892858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8961A-FF6F-1448-798D-532F081B6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6CA225-C3C3-677A-7572-8D2FD9DB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22383-7696-78BE-43FC-5AD7E84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61E6B-A59F-CD69-F223-4DDC6CEE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1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5090-08E9-52DF-445A-3D7C6E85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6F820-3983-94D7-8DBF-5F15D124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4925E-AEB7-2C28-6A38-4DAF0FC9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FC8D9-B559-F426-3D2A-3BA55DAB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4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247A2-83F9-E1C8-823E-16CE9A95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4BECE-E666-7474-D802-B0131931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A2210-525D-8EB1-EF09-80ACD05B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9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0D67-6F91-D089-5618-FDC972AE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1722-BD07-0D1F-E897-410859CF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6F1BE-4589-728E-69C5-06A90E409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D1CFE-654B-7E2F-22A3-60DEF595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9A3DF-B3B3-5F15-0A2E-8941F5D7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57908-AEF6-0808-FB5A-5B4A605A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7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4F63-B7DC-C523-8E79-F708DAB5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9726A-A688-B9CA-BC39-9AAAE10F6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38853-7A38-8612-F9C0-29D05E406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FA013-E428-3631-492E-CB67F00D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C04C3-2302-800C-5E50-43F5333F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4322D-11C6-F788-9828-81DF0EBE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4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350A-F808-544A-C699-1E4F9FBB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99018-317F-3100-DCED-F53351CF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7E86A-0D47-8DA1-DD1E-F6CDBA12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ED20-C6E8-F095-327A-F85476A9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277A9-07E2-D441-534D-107E5B76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D1DAE-9939-E690-4474-E5252A3B6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781E0-D71B-ACED-E410-EBA5014A8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3BB58-FB83-03D8-1CAD-8DD8F54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B3897-3339-0C3A-0CBB-7647B8E4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FC4CB-238B-F771-3656-069B97F2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0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FDC91-D4D4-7AC5-2102-529AA2E7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EECC7-490B-97B5-2E92-F57EF1D6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C2956-94EA-FAC8-F968-0957769DA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2F48D-B2FF-4BBD-B8B0-9EB2328BC233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A19E6-BC6C-4237-633A-FE36E0D4B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BEAEA-E0C4-E2CE-FC0B-C0E89FBE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90D23-7181-4880-92D7-902288BA5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1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C474-9B7C-49B7-E157-F2730B2AB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EN.525.774 – RF &amp; Microwave Circuit 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75748-C0F8-0C41-1C4F-A1EC62E2B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Hoang Nguyen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12/09/2024</a:t>
            </a:r>
          </a:p>
        </p:txBody>
      </p:sp>
    </p:spTree>
    <p:extLst>
      <p:ext uri="{BB962C8B-B14F-4D97-AF65-F5344CB8AC3E}">
        <p14:creationId xmlns:p14="http://schemas.microsoft.com/office/powerpoint/2010/main" val="345134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37639-5DDB-715F-BEDE-A40B1FE8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Requirements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998485-9012-FEB9-12CE-9C95EFAF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Coupled Bandpass Filter</a:t>
            </a:r>
          </a:p>
          <a:p>
            <a:pPr lvl="1"/>
            <a:r>
              <a:rPr lang="en-US" dirty="0"/>
              <a:t>Center frequency: 5.8 GHz</a:t>
            </a:r>
          </a:p>
          <a:p>
            <a:pPr lvl="1"/>
            <a:r>
              <a:rPr lang="en-US" dirty="0"/>
              <a:t>Bandwidth: 580 MHz</a:t>
            </a:r>
          </a:p>
          <a:p>
            <a:pPr lvl="1"/>
            <a:r>
              <a:rPr lang="en-US" dirty="0"/>
              <a:t>Return loss: minimum of 10 dB</a:t>
            </a:r>
          </a:p>
          <a:p>
            <a:pPr lvl="1"/>
            <a:r>
              <a:rPr lang="en-US" dirty="0"/>
              <a:t>Use Chebyshev 0.5 dB prototype coefficients (N= 3)</a:t>
            </a:r>
          </a:p>
          <a:p>
            <a:pPr lvl="1"/>
            <a:r>
              <a:rPr lang="en-US" dirty="0"/>
              <a:t>System impedance of 50 Ohm</a:t>
            </a:r>
          </a:p>
          <a:p>
            <a:r>
              <a:rPr lang="en-US" dirty="0"/>
              <a:t>5-section open stub Lowpass Filter</a:t>
            </a:r>
          </a:p>
          <a:p>
            <a:pPr lvl="1"/>
            <a:r>
              <a:rPr lang="en-US" dirty="0"/>
              <a:t>Cutoff frequency: 5.8 GHz</a:t>
            </a:r>
          </a:p>
          <a:p>
            <a:pPr lvl="1"/>
            <a:r>
              <a:rPr lang="en-US" dirty="0"/>
              <a:t>Return loss: minimum of 15 dB</a:t>
            </a:r>
          </a:p>
          <a:p>
            <a:pPr lvl="1"/>
            <a:r>
              <a:rPr lang="en-US" dirty="0"/>
              <a:t>Use Chebyshev 0.5 dB prototype coefficient (N=5)</a:t>
            </a:r>
          </a:p>
          <a:p>
            <a:pPr lvl="1"/>
            <a:r>
              <a:rPr lang="en-US" dirty="0"/>
              <a:t>System Impedance: 50 ohm</a:t>
            </a:r>
          </a:p>
        </p:txBody>
      </p:sp>
    </p:spTree>
    <p:extLst>
      <p:ext uri="{BB962C8B-B14F-4D97-AF65-F5344CB8AC3E}">
        <p14:creationId xmlns:p14="http://schemas.microsoft.com/office/powerpoint/2010/main" val="15126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BCFDF-CD00-D16F-81CA-653C2524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Coupled Bandpass Filter Design and Simulation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062976-D610-FD51-46BE-AD83B86BE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9197" y="1631937"/>
            <a:ext cx="4840603" cy="2295727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19">
                <a:extLst>
                  <a:ext uri="{FF2B5EF4-FFF2-40B4-BE49-F238E27FC236}">
                    <a16:creationId xmlns:a16="http://schemas.microsoft.com/office/drawing/2014/main" id="{5162AA48-C665-241F-1DCE-EA74289B34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2777" y="1669445"/>
                <a:ext cx="3831761" cy="5087489"/>
              </a:xfrm>
            </p:spPr>
            <p:txBody>
              <a:bodyPr anchor="ctr">
                <a:noAutofit/>
              </a:bodyPr>
              <a:lstStyle/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</m:num>
                            <m:den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∗0.1</m:t>
                              </m:r>
                            </m:num>
                            <m:den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2∗1.5963</m:t>
                              </m:r>
                            </m:den>
                          </m:f>
                        </m:e>
                      </m:ra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=0.3136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</m:num>
                        <m:den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∗0.1</m:t>
                          </m:r>
                        </m:num>
                        <m:den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1.5963∗1.0967</m:t>
                              </m:r>
                            </m:e>
                          </m:rad>
                        </m:den>
                      </m:f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=0.1187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</m:num>
                        <m:den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∗0.1</m:t>
                          </m:r>
                        </m:num>
                        <m:den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ad>
                            <m:rad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1.0967∗1.5963</m:t>
                              </m:r>
                            </m:e>
                          </m:rad>
                        </m:den>
                      </m:f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=0.1187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</m:num>
                            <m:den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∗0.1</m:t>
                              </m:r>
                            </m:num>
                            <m:den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2∗1.5963∗1</m:t>
                              </m:r>
                            </m:den>
                          </m:f>
                        </m:e>
                      </m:ra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=0.3136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=50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1+0.3136+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0.3136</m:t>
                              </m:r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=70.59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001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=50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1−0.3136+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0.3136</m:t>
                              </m:r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=39.23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=50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1+0.1187+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0.1187</m:t>
                              </m:r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=56.64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0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0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=50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1−0.1187+</m:t>
                          </m:r>
                          <m:sSup>
                            <m:sSupPr>
                              <m:ctrlP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0.1187</m:t>
                              </m:r>
                            </m:e>
                            <m:sup>
                              <m:r>
                                <a:rPr lang="en-US" sz="1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=44.77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=70.59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=56.64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001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004</m:t>
                          </m:r>
                        </m:sub>
                      </m:sSub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=39.23 </m:t>
                      </m:r>
                      <m:r>
                        <a:rPr lang="en-US" sz="10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002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003</m:t>
                          </m:r>
                        </m:sub>
                      </m:sSub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=44.77 </m:t>
                      </m:r>
                      <m:r>
                        <a:rPr lang="en-US" sz="1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𝑂h𝑚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7" name="Content Placeholder 19">
                <a:extLst>
                  <a:ext uri="{FF2B5EF4-FFF2-40B4-BE49-F238E27FC236}">
                    <a16:creationId xmlns:a16="http://schemas.microsoft.com/office/drawing/2014/main" id="{5162AA48-C665-241F-1DCE-EA74289B34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2777" y="1669445"/>
                <a:ext cx="3831761" cy="508748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5B89446-9CAA-CE4C-A7F2-94A9C3084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459" y="3948812"/>
            <a:ext cx="3516677" cy="291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97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B3C1A-C1DA-968E-6853-F6E8655E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488C04E-9A60-05D4-948F-D7AA2D12F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929C6D-8FF3-51AA-AE93-02D24AB9A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ACB69B-6172-AB48-4F74-3C6C38680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1D9F19-FE89-6966-CE8B-1B8218319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993FB-1973-8699-FB40-8E5588A4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Coupled Bandpass Filter Design</a:t>
            </a:r>
            <a:r>
              <a:rPr lang="en-US" sz="4000" dirty="0">
                <a:solidFill>
                  <a:srgbClr val="FFFFFF"/>
                </a:solidFill>
              </a:rPr>
              <a:t> and Simulation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(Cont.)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779EAF-A04E-963F-9CC8-5920D7B71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52" y="2582052"/>
            <a:ext cx="4408170" cy="32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84675F-AACE-641F-3C8D-9EAB81882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223" y="1751529"/>
            <a:ext cx="3970883" cy="4367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C184A0-074A-CF59-F5AA-2A2F5C74D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014" y="2911664"/>
            <a:ext cx="3473048" cy="28771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93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23034-AD59-C4BA-D122-E5962E1A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1103A2C-A823-3870-6009-7DD4D18CB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5F54-E0EB-EEE5-6652-456A886DD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ADFA27-9E10-2B11-7097-8822DE0E8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AA58A3-26D8-3110-F169-4BEDF8E1E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58C0C-9E04-06F6-C525-61AA5B25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Coupled Bandpass Filter Design and Simulation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88379-2AF1-6B51-D605-24FB808D4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48" y="1640787"/>
            <a:ext cx="5943600" cy="317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6641A0-7AFA-B9CC-0D89-EF9BCFD75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696" y="1674224"/>
            <a:ext cx="5581650" cy="28092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22BB6-9B94-DBEB-8468-267DE727A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302862"/>
              </p:ext>
            </p:extLst>
          </p:nvPr>
        </p:nvGraphicFramePr>
        <p:xfrm>
          <a:off x="158748" y="5303709"/>
          <a:ext cx="5937250" cy="13992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359618280"/>
                    </a:ext>
                  </a:extLst>
                </a:gridCol>
                <a:gridCol w="2027056">
                  <a:extLst>
                    <a:ext uri="{9D8B030D-6E8A-4147-A177-3AD203B41FA5}">
                      <a16:colId xmlns:a16="http://schemas.microsoft.com/office/drawing/2014/main" val="1812674856"/>
                    </a:ext>
                  </a:extLst>
                </a:gridCol>
                <a:gridCol w="1931534">
                  <a:extLst>
                    <a:ext uri="{9D8B030D-6E8A-4147-A177-3AD203B41FA5}">
                      <a16:colId xmlns:a16="http://schemas.microsoft.com/office/drawing/2014/main" val="1877198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Before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After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63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32.87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33.3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9042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40.4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40.1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768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6.61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625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23.47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23.4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692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312.69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298.2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558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304.28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293.1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517496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F95BD63-C857-18B4-0CB4-B32415D42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775" y="4581732"/>
            <a:ext cx="2424908" cy="2276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39E861-B8F9-4635-CC15-B7D2398CC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460" y="4699182"/>
            <a:ext cx="1990011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0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96071-E443-F49F-15D7-A0EC4567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8FBED5C-F616-434F-F35D-60302B97B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212CF1-EA9F-D18F-92A4-85E016ECF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845C53-ADEA-8129-1C43-0331168B8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14A68C-14B6-B3A2-7D25-2226DC4E0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798D7-B843-EC7E-315C-2975479E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Coupled Bandpass Filter Design</a:t>
            </a:r>
            <a:r>
              <a:rPr lang="en-US" sz="4000">
                <a:solidFill>
                  <a:srgbClr val="FFFFFF"/>
                </a:solidFill>
              </a:rPr>
              <a:t> and Measurement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0F57C-6BC0-E0D5-CD1D-72503CC9B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71" y="1655276"/>
            <a:ext cx="5943600" cy="288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C3E8B1-3E71-9E43-40E1-77EEDC8E6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71" y="4701152"/>
            <a:ext cx="5943600" cy="1908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15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0D2EA-3304-A388-89F1-14C71788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9039BF8-D83F-6D5D-F148-E3C7E0086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87AEBF-F755-2AC6-54C4-FD460D10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8443E9-6A55-50EB-633C-D62C62D54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6A328C-5AED-7DC8-5497-A8C5E4EF6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CD103-3F03-477D-0AE9-6FE4AE8D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5-Section Open Stub Lowpass Filter Design &amp; Simulation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F2135-1C18-0599-D853-6F612A28B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15" y="1745345"/>
            <a:ext cx="4392379" cy="2194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oup of blue rectangles on a black background&#10;&#10;Description automatically generated">
            <a:extLst>
              <a:ext uri="{FF2B5EF4-FFF2-40B4-BE49-F238E27FC236}">
                <a16:creationId xmlns:a16="http://schemas.microsoft.com/office/drawing/2014/main" id="{40F6E0F2-ECFE-B92D-01B2-40DE6B575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854" y="1745346"/>
            <a:ext cx="2409573" cy="195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group of blue rectangles&#10;&#10;Description automatically generated">
            <a:extLst>
              <a:ext uri="{FF2B5EF4-FFF2-40B4-BE49-F238E27FC236}">
                <a16:creationId xmlns:a16="http://schemas.microsoft.com/office/drawing/2014/main" id="{F296C13C-E7E9-F7F9-D0D3-E0602F2E0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574" y="4330293"/>
            <a:ext cx="4174132" cy="213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close-up of a diagram&#10;&#10;Description automatically generated">
            <a:extLst>
              <a:ext uri="{FF2B5EF4-FFF2-40B4-BE49-F238E27FC236}">
                <a16:creationId xmlns:a16="http://schemas.microsoft.com/office/drawing/2014/main" id="{54F1BF03-D6F3-0230-46A3-8E0AA9D7B1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" y="4472832"/>
            <a:ext cx="6672294" cy="213713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D711AAC-C950-B55F-A070-4DFBCA636CC7}"/>
              </a:ext>
            </a:extLst>
          </p:cNvPr>
          <p:cNvSpPr/>
          <p:nvPr/>
        </p:nvSpPr>
        <p:spPr>
          <a:xfrm>
            <a:off x="6333423" y="284253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08D9744-3E32-0E53-5953-B388431E907D}"/>
              </a:ext>
            </a:extLst>
          </p:cNvPr>
          <p:cNvSpPr/>
          <p:nvPr/>
        </p:nvSpPr>
        <p:spPr>
          <a:xfrm rot="5400000">
            <a:off x="9136915" y="3771646"/>
            <a:ext cx="56345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94AF436-CA9B-F6E2-3612-DD9CCBFD943E}"/>
              </a:ext>
            </a:extLst>
          </p:cNvPr>
          <p:cNvSpPr/>
          <p:nvPr/>
        </p:nvSpPr>
        <p:spPr>
          <a:xfrm rot="10800000">
            <a:off x="6974396" y="4472832"/>
            <a:ext cx="6748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0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FC03F-4950-3A1C-A488-2FB76C65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10D8648-4EBB-B647-563C-8065B950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34DEA0-B2B4-47C6-B8B8-4F417DF3C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3162F5-FF0B-2035-86F8-2184605AD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2702C1-9CBF-F67D-5D9D-5E944E959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5C8AB-ED14-F584-9227-C80AB8E0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5-Section Open Stub Lowpass Filter Design &amp; Simulation (Cont.)</a:t>
            </a:r>
          </a:p>
        </p:txBody>
      </p:sp>
      <p:pic>
        <p:nvPicPr>
          <p:cNvPr id="6" name="Picture 5" descr="A blue rectangles on a black background&#10;&#10;Description automatically generated">
            <a:extLst>
              <a:ext uri="{FF2B5EF4-FFF2-40B4-BE49-F238E27FC236}">
                <a16:creationId xmlns:a16="http://schemas.microsoft.com/office/drawing/2014/main" id="{8AE59E6F-8B17-D4B7-4ADC-7D543BD3C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1" y="1808902"/>
            <a:ext cx="5943600" cy="12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898737-7E64-CDEA-3A8C-5CD5F72BB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73" y="5177651"/>
            <a:ext cx="9805569" cy="1350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blue rectangles on a black background&#10;&#10;Description automatically generated">
            <a:extLst>
              <a:ext uri="{FF2B5EF4-FFF2-40B4-BE49-F238E27FC236}">
                <a16:creationId xmlns:a16="http://schemas.microsoft.com/office/drawing/2014/main" id="{650F0A4A-14C6-A3E6-03B6-508A68B23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1" y="3443539"/>
            <a:ext cx="5943600" cy="1252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BC0FB9-E33E-0E3D-B5D6-1828A4EB4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79" y="2569361"/>
            <a:ext cx="5683840" cy="1864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477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B7404-4029-1E1A-B81E-5B17FCBE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8CFE1-36CF-4F74-8097-371F07C6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5-Section Open Stub Lowpass Filter Design &amp; Simulation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22F4C-5FCC-D36B-831F-67803BF5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71" y="1603915"/>
            <a:ext cx="6732440" cy="243689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7D62BD-E1AB-5823-5BD4-EB649A64E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6418" y="4211735"/>
            <a:ext cx="6367900" cy="25284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92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7806F-143A-88E6-989A-415647AF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F611B7DF-E4FD-5E2B-6936-75D13E4B6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CB0EE-FCFA-41C6-CF68-51684C24F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99653C-B38F-220A-8630-12C43BB5F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EF9138-601D-1777-5DA6-A96DED4D5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32CBEF-6640-53E0-E471-1FFCD564C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51C87-4452-9024-307C-951B9450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5-Section Open Stub Lowpass Filter Design &amp; Simulation (Cont.)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29A33-9D87-6674-ED94-784E1413D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75" y="1725395"/>
            <a:ext cx="6028875" cy="2520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CD4DE-AAFE-9BFA-19D8-BE497EB62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453" y="1735375"/>
            <a:ext cx="6338825" cy="25138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9B77B1-DAFA-167D-0A4C-311027FD5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60168"/>
              </p:ext>
            </p:extLst>
          </p:nvPr>
        </p:nvGraphicFramePr>
        <p:xfrm>
          <a:off x="371391" y="4539728"/>
          <a:ext cx="4422775" cy="2198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0980">
                  <a:extLst>
                    <a:ext uri="{9D8B030D-6E8A-4147-A177-3AD203B41FA5}">
                      <a16:colId xmlns:a16="http://schemas.microsoft.com/office/drawing/2014/main" val="3547667086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939858301"/>
                    </a:ext>
                  </a:extLst>
                </a:gridCol>
                <a:gridCol w="1398905">
                  <a:extLst>
                    <a:ext uri="{9D8B030D-6E8A-4147-A177-3AD203B41FA5}">
                      <a16:colId xmlns:a16="http://schemas.microsoft.com/office/drawing/2014/main" val="1059261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Before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After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1018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Wo1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3.7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7205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Wo2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121.8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121.8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781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Wo3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156.7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126.9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293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Ws1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16.2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16.2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893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Ws2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16.9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16.9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85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164.8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187.9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094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143.8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139.5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1281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142.2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139.9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444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Ls1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143.8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128.8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15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Ls2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157.5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154.5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565442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55809F-7E6D-2FD9-9800-7223C750A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453" y="4407068"/>
            <a:ext cx="2611946" cy="245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AC96D-3817-9B6C-114A-963F73D83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665" y="4385384"/>
            <a:ext cx="2443742" cy="23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2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15FB6-078F-BE23-30EA-7C893C06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CCCF2-4A14-FE31-E563-E864F298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5-Section Open Stub Lowpass Filter Design &amp;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8A4595-6D2E-FBC5-7B94-B49B3F54E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0813" y="1966293"/>
            <a:ext cx="9510373" cy="4452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788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9C28D-1CAD-1A57-E7B9-7EC9B3081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8D1B32C-5027-01AB-2369-49054E10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81E000-D2EC-49A5-8E0E-1EAA6A719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A3B346-F036-3EB9-57A0-435FEA0BA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FC87B6-8597-B906-2943-7C3160A4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E3640-2D7A-2BDB-D608-A03B2335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A4CDC6-6F94-CF0F-FA03-F410431F4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99147"/>
              </p:ext>
            </p:extLst>
          </p:nvPr>
        </p:nvGraphicFramePr>
        <p:xfrm>
          <a:off x="435161" y="2340898"/>
          <a:ext cx="6456258" cy="1602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9767">
                  <a:extLst>
                    <a:ext uri="{9D8B030D-6E8A-4147-A177-3AD203B41FA5}">
                      <a16:colId xmlns:a16="http://schemas.microsoft.com/office/drawing/2014/main" val="11088479"/>
                    </a:ext>
                  </a:extLst>
                </a:gridCol>
                <a:gridCol w="1519947">
                  <a:extLst>
                    <a:ext uri="{9D8B030D-6E8A-4147-A177-3AD203B41FA5}">
                      <a16:colId xmlns:a16="http://schemas.microsoft.com/office/drawing/2014/main" val="912031948"/>
                    </a:ext>
                  </a:extLst>
                </a:gridCol>
                <a:gridCol w="1519947">
                  <a:extLst>
                    <a:ext uri="{9D8B030D-6E8A-4147-A177-3AD203B41FA5}">
                      <a16:colId xmlns:a16="http://schemas.microsoft.com/office/drawing/2014/main" val="473866758"/>
                    </a:ext>
                  </a:extLst>
                </a:gridCol>
                <a:gridCol w="2026597">
                  <a:extLst>
                    <a:ext uri="{9D8B030D-6E8A-4147-A177-3AD203B41FA5}">
                      <a16:colId xmlns:a16="http://schemas.microsoft.com/office/drawing/2014/main" val="3621258855"/>
                    </a:ext>
                  </a:extLst>
                </a:gridCol>
              </a:tblGrid>
              <a:tr h="686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Center Frequency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Bandwidth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Return loss &lt; 10dB range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636207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Requirement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5.8 GHz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580 MHz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5.510 – 6.090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8991006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Simulation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5.8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630 MHz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5.5 – 6.09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062748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Measurement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5.87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550 MHz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5.6 – 6.14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379878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8E20BA-0522-B739-F8E3-DC540CF5D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76745"/>
              </p:ext>
            </p:extLst>
          </p:nvPr>
        </p:nvGraphicFramePr>
        <p:xfrm>
          <a:off x="436223" y="4655903"/>
          <a:ext cx="6484834" cy="15759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5351">
                  <a:extLst>
                    <a:ext uri="{9D8B030D-6E8A-4147-A177-3AD203B41FA5}">
                      <a16:colId xmlns:a16="http://schemas.microsoft.com/office/drawing/2014/main" val="2626392951"/>
                    </a:ext>
                  </a:extLst>
                </a:gridCol>
                <a:gridCol w="2393754">
                  <a:extLst>
                    <a:ext uri="{9D8B030D-6E8A-4147-A177-3AD203B41FA5}">
                      <a16:colId xmlns:a16="http://schemas.microsoft.com/office/drawing/2014/main" val="2026906372"/>
                    </a:ext>
                  </a:extLst>
                </a:gridCol>
                <a:gridCol w="2645729">
                  <a:extLst>
                    <a:ext uri="{9D8B030D-6E8A-4147-A177-3AD203B41FA5}">
                      <a16:colId xmlns:a16="http://schemas.microsoft.com/office/drawing/2014/main" val="1026073518"/>
                    </a:ext>
                  </a:extLst>
                </a:gridCol>
              </a:tblGrid>
              <a:tr h="393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Cutoff Frequency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Return loss &lt; 15dB range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867788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Requirement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5.8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0 – 5.8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30177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Simulation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6.3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0 – 5.9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416826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Measurement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5.65 GHz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0-5.4 GHz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09145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8D97BF-EF4C-865C-34B3-13E74DB3FD65}"/>
              </a:ext>
            </a:extLst>
          </p:cNvPr>
          <p:cNvSpPr txBox="1"/>
          <p:nvPr/>
        </p:nvSpPr>
        <p:spPr>
          <a:xfrm>
            <a:off x="2360715" y="1829968"/>
            <a:ext cx="263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Coupled Bandpass Filter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3A010-E294-944B-24E1-23807A80486D}"/>
              </a:ext>
            </a:extLst>
          </p:cNvPr>
          <p:cNvSpPr txBox="1"/>
          <p:nvPr/>
        </p:nvSpPr>
        <p:spPr>
          <a:xfrm>
            <a:off x="1828123" y="4170655"/>
            <a:ext cx="372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5-Section Open Stub Lowpass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443D9-1240-8F6A-1832-FCCE915B3A5D}"/>
              </a:ext>
            </a:extLst>
          </p:cNvPr>
          <p:cNvSpPr txBox="1"/>
          <p:nvPr/>
        </p:nvSpPr>
        <p:spPr>
          <a:xfrm>
            <a:off x="7503736" y="2199300"/>
            <a:ext cx="42531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Discrepancy between simulation and measurement might be due to:</a:t>
            </a:r>
          </a:p>
          <a:p>
            <a:r>
              <a:rPr lang="en-US" dirty="0"/>
              <a:t>- Board material tolerance</a:t>
            </a:r>
          </a:p>
          <a:p>
            <a:r>
              <a:rPr lang="en-US" dirty="0"/>
              <a:t>- Impedance mismatch at 50-ohm input and output with test equipment</a:t>
            </a:r>
          </a:p>
          <a:p>
            <a:r>
              <a:rPr lang="en-US" dirty="0"/>
              <a:t>- Manufacturing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8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8674</TotalTime>
  <Words>428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Office Theme</vt:lpstr>
      <vt:lpstr>EN.525.774 – RF &amp; Microwave Circuit I Final Project</vt:lpstr>
      <vt:lpstr>Project Requirements</vt:lpstr>
      <vt:lpstr>Coupled Bandpass Filter Design and Simulation</vt:lpstr>
      <vt:lpstr>Coupled Bandpass Filter Design and Simulation (Cont.)</vt:lpstr>
      <vt:lpstr>Coupled Bandpass Filter Design and Simulation (Cont.)</vt:lpstr>
      <vt:lpstr>Coupled Bandpass Filter Design and Measurement</vt:lpstr>
      <vt:lpstr>5-Section Open Stub Lowpass Filter Design &amp; Simulation</vt:lpstr>
      <vt:lpstr>5-Section Open Stub Lowpass Filter Design &amp; Simulation (Cont.)</vt:lpstr>
      <vt:lpstr>5-Section Open Stub Lowpass Filter Design &amp; Simulation (Cont.)</vt:lpstr>
      <vt:lpstr>5-Section Open Stub Lowpass Filter Design &amp; Simulation (Cont.)</vt:lpstr>
      <vt:lpstr>5-Section Open Stub Lowpass Filter Design &amp; Measurement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Nguyen</dc:creator>
  <cp:lastModifiedBy>Hoang Nguyen</cp:lastModifiedBy>
  <cp:revision>11</cp:revision>
  <dcterms:created xsi:type="dcterms:W3CDTF">2024-12-03T04:25:16Z</dcterms:created>
  <dcterms:modified xsi:type="dcterms:W3CDTF">2024-12-09T04:59:19Z</dcterms:modified>
</cp:coreProperties>
</file>